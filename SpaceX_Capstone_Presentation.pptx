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6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Trebuchet MS"/>
              </a:defRPr>
            </a:pPr>
            <a:r>
              <a:rPr sz="1200" b="0" i="0" u="none" strike="noStrike">
                <a:solidFill>
                  <a:srgbClr val="0B1D3A"/>
                </a:solidFill>
                <a:latin typeface="Trebuchet MS"/>
              </a:rPr>
              <a:t>Launch Success Rate by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0.43</c:v>
                </c:pt>
                <c:pt idx="4">
                  <c:v>0.56999999999999995</c:v>
                </c:pt>
                <c:pt idx="5">
                  <c:v>0.67</c:v>
                </c:pt>
                <c:pt idx="6">
                  <c:v>0.76</c:v>
                </c:pt>
                <c:pt idx="7">
                  <c:v>0.78</c:v>
                </c:pt>
                <c:pt idx="8">
                  <c:v>0.88</c:v>
                </c:pt>
                <c:pt idx="9">
                  <c:v>0.93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82-401F-A2D9-668C1F081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Trebuchet MS"/>
              </a:defRPr>
            </a:pPr>
            <a:r>
              <a:rPr sz="1200" b="0" i="0" u="none" strike="noStrike">
                <a:solidFill>
                  <a:srgbClr val="0B1D3A"/>
                </a:solidFill>
                <a:latin typeface="Trebuchet MS"/>
              </a:rPr>
              <a:t>Successful Landings by Site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D3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CCAFS SLC 40</c:v>
                </c:pt>
                <c:pt idx="1">
                  <c:v>KSC LC 39A</c:v>
                </c:pt>
                <c:pt idx="2">
                  <c:v>VAFB SLC 4E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09-46A0-9F67-CC91EBA185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Trebuchet MS"/>
              </a:defRPr>
            </a:pPr>
            <a:r>
              <a:rPr sz="1200" b="0" i="0" u="none" strike="noStrike">
                <a:solidFill>
                  <a:srgbClr val="0B1D3A"/>
                </a:solidFill>
                <a:latin typeface="Trebuchet MS"/>
              </a:rPr>
              <a:t>Test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D3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Decision
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77.8</c:v>
                </c:pt>
                <c:pt idx="3">
                  <c:v>61.1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02-4BE1-95DA-5A960A6B06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2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28800"/>
            <a:ext cx="109728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659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SpaceX Falcon 9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Stage Landing Prediction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— Capstone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the SpaceX Falcon 9 first stage will land successfully, enabling cost estimation for launches.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achieved 83.3% test accuracy. Launch site, payload mass, flight number, and orbit type are the strongest predictors of landing success. KSC LC-39A has the highest success rate among all sites.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revolutionized the space industry by reusing the first stage of its Falcon 9 rocket, reducing launch costs from $165M to approximately $62M. Predicting whether the first stage will land successfully is critical for estimating launch costs and enabling competitive bidding.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the Falcon 9 first stage will land successfully based on launch parameters?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a competing company (Space Y) to estimate costs and bid against SpaceX.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7432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7432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32918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&amp; wrangle SpaceX launch data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Perform EDA to find patterns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interactive visual analytics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 classification models to predict landing outcomes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SpaceX REST API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to SpaceX API endpoint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JSON with pd.json_normalize()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Extracted: rocket, payloads, launchpad, cores data via sub-queries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Falcon 9 launches only (90 records)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missing PayloadMass with column mean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Scraping (Wikipedia)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to parse Falcon 9 launch Wiki page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HTML table with launch records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Parsed: flight no., date, booster version, launch site, payload, orbit, outcome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and inconsistent formatting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CSV for downstream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Wrangling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Filter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Falcon 1 launches,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90 Falcon 9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Handle Missing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NaN PayloadMass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mean (LandingPad kept)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Label Creation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Class column: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success, 0 = failure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1887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Feature Eng.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18288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Orbit,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LaunchSite, LandingPad, Serial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Summary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Falcon 9 Launches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after One-Hot Encoding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/ Test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/ 20% (72 / 18 records)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Landing Success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with Visualization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0584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EDA Findings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4008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has increased steadily from 0% (2010) to 93% (2020). KSC LC-39A has the highest success rate. Heavier payloads (LEO, ISS) still land successfully. Orbits ES-L1, GEO, HEO, SSO achieve 100% success.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with SQL 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from CCAFS SLC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success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carried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boosters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successful ground pad 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2015-12-22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Boosters: drone ship success, 4000-6000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FT B1021.2, F9 FT B1031.2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0B1D3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SQL Queries Used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SPACEXTBL LIMIT 20;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MIN("Date") FROM SPACEXTBL WHERE "Landing_Outcome"='Success (ground pad)';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"Landing_Outcome", COUNT(*) FROM SPACEXTBL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"Date" BETWEEN '2010-06-04' AND '2017-03-20' GROUP BY "Landing_Outcome" ORDER BY count DESC;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Map with Folium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Site Geographical Analysis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69164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Site Markers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launch sites marked with coordinates and labels on an interactive Folium map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974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Success/Failure Markers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markers: green = successful landing, red = failed landing for each launch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70332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Proximity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distances from launch sites to coastlines, cities, railways, and highways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All launch sites are located near the coast (for safety) and close to the equator (for orbital mechanics advantage). KSC LC-39A shows the densest cluster of successful landings.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Plotly Dash Dashboard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Dashboard Components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69164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Dropdown Selector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individual launch sites or view all sites combined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9164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success vs. failure counts per site, or total success distribution across all sites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06324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Payload Range Slider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launches by payload mass range (0–10,000 kg)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06324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06324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Chart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vs. launch outcome, color-coded by booster version category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5156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dashboard reveals that payloads between 2,000–5,500 kg have the highest success rates. FT and B5 booster versions show improved landing performance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Analysis Methodology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Pipeline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645920"/>
            <a:ext cx="196596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all features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3172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60320" y="1645920"/>
            <a:ext cx="196596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256032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6032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(random_state=2)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1645920"/>
            <a:ext cx="196596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GridSearchCV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5488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cross-validation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084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949440" y="1645920"/>
            <a:ext cx="196596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94944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4944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+ confusion matrix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C=1, penalty=l2, solver=lbfgs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kernel=linear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criterion=gini, max_depth=6, min_leaf=4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n_neighbors=3, p=1, algorithm=auto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Analysis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1430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Performers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852160" y="16002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SVM tied at 83.3%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leads at 88.9%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simplest model with top test accuracy and strong generalization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Insight (Logistic Regression)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classified 15 out of 18 test samples. Most errors occur in false negatives — predicting failure when the landing actually succeeded. This conservative behavior is acceptable for cost estimation purposes.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success is predictable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371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achieve up to 83.3% accuracy using launch parameters alone, proving that first-stage recovery can be modeled effectively.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288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rate is improving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2148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0% in 2010 to 93% in 2020 — SpaceX has dramatically improved its landing technology over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060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site matters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29260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highest success rate. All sites are strategically located near coastlines for safety.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Payload and orbit influence outcome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51560" y="3703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in LEO/ISS orbits still achieve high success. GTO missions have lower landing rates due to higher energy requirements.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is recommended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51560" y="44805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 with best test performance (83.3%). Decision Tree overfits despite high validation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 Insights &amp; Recommendations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Numbers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69164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Booster Reuse Economics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boosters with 5+ flights maintain high success rates, suggesting diminishing cost per flight. Space Y should prioritize reusability R&amp;D.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9164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&amp; Seasonality Gap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models don't include weather data. Adding wind speed, visibility, and sea state could improve predictions significantly.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004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20040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Approach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Logistic Regression (stability) with Decision Tree (pattern detection) via a voting classifier could push accuracy beyond 85%.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2004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20040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Prediction System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8348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 REST API to provide real-time landing probability estimates during launch planning and cost bidding.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40480" y="2011680"/>
            <a:ext cx="146304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560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32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https://github.com/Pierre-CLT/Applied_Data_Science_Capstone_IBM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— Capstone Project —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1229</Words>
  <Application>Microsoft Office PowerPoint</Application>
  <PresentationFormat>Affichage à l'écran (16:9)</PresentationFormat>
  <Paragraphs>199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SpaceX Capstone</dc:creator>
  <cp:lastModifiedBy>pierre caillot</cp:lastModifiedBy>
  <cp:revision>2</cp:revision>
  <dcterms:created xsi:type="dcterms:W3CDTF">2026-04-01T17:29:24Z</dcterms:created>
  <dcterms:modified xsi:type="dcterms:W3CDTF">2026-04-01T18:07:26Z</dcterms:modified>
</cp:coreProperties>
</file>