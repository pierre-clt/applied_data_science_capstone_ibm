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1D3A"/>
                </a:solidFill>
                <a:latin typeface="Trebuchet MS"/>
              </a:defRPr>
            </a:pPr>
            <a:r>
              <a:rPr sz="1200" b="0" i="0" u="none" strike="noStrike">
                <a:solidFill>
                  <a:srgbClr val="0B1D3A"/>
                </a:solidFill>
                <a:latin typeface="Trebuchet MS"/>
              </a:rPr>
              <a:t>Launch Success Rate by Year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Success Rate</c:v>
                </c:pt>
              </c:strCache>
            </c:strRef>
          </c:tx>
          <c:spPr>
            <a:solidFill>
              <a:srgbClr val="0891B2"/>
            </a:solidFill>
            <a:ln w="31750" cap="flat">
              <a:solidFill>
                <a:srgbClr val="0891B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891B2"/>
              </a:solidFill>
              <a:ln w="9525" cap="flat">
                <a:solidFill>
                  <a:srgbClr val="0891B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2010</c:v>
                  </c:pt>
                  <c:pt idx="1">
                    <c:v>2012</c:v>
                  </c:pt>
                  <c:pt idx="2">
                    <c:v>2013</c:v>
                  </c:pt>
                  <c:pt idx="3">
                    <c:v>2014</c:v>
                  </c:pt>
                  <c:pt idx="4">
                    <c:v>2015</c:v>
                  </c:pt>
                  <c:pt idx="5">
                    <c:v>2016</c:v>
                  </c:pt>
                  <c:pt idx="6">
                    <c:v>2017</c:v>
                  </c:pt>
                  <c:pt idx="7">
                    <c:v>2018</c:v>
                  </c:pt>
                  <c:pt idx="8">
                    <c:v>2019</c:v>
                  </c:pt>
                  <c:pt idx="9">
                    <c:v>2020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0.43</c:v>
                </c:pt>
                <c:pt idx="4">
                  <c:v>0.57</c:v>
                </c:pt>
                <c:pt idx="5">
                  <c:v>0.67</c:v>
                </c:pt>
                <c:pt idx="6">
                  <c:v>0.76</c:v>
                </c:pt>
                <c:pt idx="7">
                  <c:v>0.78</c:v>
                </c:pt>
                <c:pt idx="8">
                  <c:v>0.88</c:v>
                </c:pt>
                <c:pt idx="9">
                  <c:v>0.93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1D3A"/>
                </a:solidFill>
                <a:latin typeface="Trebuchet MS"/>
              </a:defRPr>
            </a:pPr>
            <a:r>
              <a:rPr sz="1200" b="0" i="0" u="none" strike="noStrike">
                <a:solidFill>
                  <a:srgbClr val="0B1D3A"/>
                </a:solidFill>
                <a:latin typeface="Trebuchet MS"/>
              </a:rPr>
              <a:t>Successful Landings by Site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Success Count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D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CCAFS SLC 40</c:v>
                  </c:pt>
                  <c:pt idx="1">
                    <c:v>KSC LC 39A</c:v>
                  </c:pt>
                  <c:pt idx="2">
                    <c:v>VAFB SLC 4E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20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1D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1D3A"/>
                </a:solidFill>
                <a:latin typeface="Trebuchet MS"/>
              </a:defRPr>
            </a:pPr>
            <a:r>
              <a:rPr sz="1200" b="0" i="0" u="none" strike="noStrike">
                <a:solidFill>
                  <a:srgbClr val="0B1D3A"/>
                </a:solidFill>
                <a:latin typeface="Trebuchet MS"/>
              </a:rPr>
              <a:t>Test Accuracy Comparison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Accuracy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D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Logistic
Regression</c:v>
                  </c:pt>
                  <c:pt idx="1">
                    <c:v>SVM</c:v>
                  </c:pt>
                  <c:pt idx="2">
                    <c:v>Decision
Tree</c:v>
                  </c:pt>
                  <c:pt idx="3">
                    <c:v>KNN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83.3</c:v>
                </c:pt>
                <c:pt idx="1">
                  <c:v>83.3</c:v>
                </c:pt>
                <c:pt idx="2">
                  <c:v>77.8</c:v>
                </c:pt>
                <c:pt idx="3">
                  <c:v>61.1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1D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4" name="Shape 2"/>
          <p:cNvSpPr/>
          <p:nvPr/>
        </p:nvSpPr>
        <p:spPr>
          <a:xfrm>
            <a:off x="1371600" y="1828800"/>
            <a:ext cx="1097280" cy="54864"/>
          </a:xfrm>
          <a:prstGeom prst="rect">
            <a:avLst/>
          </a:prstGeom>
          <a:solidFill>
            <a:srgbClr val="22D3E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96596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SpaceX Falcon 9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First Stage Landing Prediction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1371600" y="3200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Data Science Professional Certificate — Capstone Project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371600" y="3749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920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192024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 9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06040" y="1097280"/>
            <a:ext cx="1920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606040" y="1097280"/>
            <a:ext cx="19202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2606040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67%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2606040" y="19202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Rate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097280"/>
            <a:ext cx="1920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097280"/>
            <a:ext cx="192024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83.3%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754880" y="19202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03720" y="1097280"/>
            <a:ext cx="1920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903720" y="1097280"/>
            <a:ext cx="1920240" cy="54864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6903720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903720" y="19202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834640"/>
            <a:ext cx="82296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1520" y="301752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Goal: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whether the SpaceX Falcon 9 first stage will land successfully, enabling cost estimation for launches.</a:t>
            </a:r>
            <a:pPr indent="0" marL="0">
              <a:lnSpc>
                <a:spcPct val="130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achieved 83.3% test accuracy. Launch site, payload mass, flight number, and orbit type are the strongest predictors of landing success. KSC LC-39A has the highest success rate among all sites.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972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Background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 revolutionized the space industry by reusing the first stage of its Falcon 9 rocket, reducing launch costs from $165M to approximately $62M. Predicting whether the first stage will land successfully is critical for estimating launch costs and enabling competitive bidding.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743200"/>
            <a:ext cx="393192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2743200"/>
            <a:ext cx="393192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2880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 Statement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0080" y="3291840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predict whether the Falcon 9 first stage will land successfully based on launch parameters?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enables a competing company (Space Y) to estimate costs and bid against SpaceX.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54880" y="2743200"/>
            <a:ext cx="393192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2743200"/>
            <a:ext cx="393192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0"/>
          <p:cNvSpPr/>
          <p:nvPr/>
        </p:nvSpPr>
        <p:spPr>
          <a:xfrm>
            <a:off x="4937760" y="2880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Objectives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937760" y="3291840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Collect &amp; wrangle SpaceX launch data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Perform EDA to find patterns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Build interactive visual analytics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Train classification models to predict landing outcomes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Collection Methodology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SpaceX REST API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31520" y="1828800"/>
            <a:ext cx="34747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request to SpaceX API endpoint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JSON with pd.json_normalize()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Extracted: rocket, payloads, launchpad, cores data via sub-queries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 to Falcon 9 launches only (90 records)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Replaced missing PayloadMass with column mean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801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532120" y="1280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Scraping (Wikipedia)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5029200" y="1828800"/>
            <a:ext cx="34747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BeautifulSoup to parse Falcon 9 launch Wiki page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HTML table with launch records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Parsed: flight no., date, booster version, launch site, payload, orbit, outcome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Handled missing values and inconsistent formatting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Exported to CSV for downstream analysis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Wrangling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659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196596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371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Filter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82880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Falcon 1 launches,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90 Falcon 9 records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0" y="1188720"/>
            <a:ext cx="19659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0" y="1188720"/>
            <a:ext cx="196596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0" name="Text 8"/>
          <p:cNvSpPr/>
          <p:nvPr/>
        </p:nvSpPr>
        <p:spPr>
          <a:xfrm>
            <a:off x="2697480" y="1371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Handle Missing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97480" y="182880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Replaced NaN PayloadMass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mean (LandingPad kept)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188720"/>
            <a:ext cx="19659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188720"/>
            <a:ext cx="196596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1371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Label Creation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2040" y="182880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Class column: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= success, 0 = failure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49440" y="1188720"/>
            <a:ext cx="19659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949440" y="1188720"/>
            <a:ext cx="196596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Text 16"/>
          <p:cNvSpPr/>
          <p:nvPr/>
        </p:nvSpPr>
        <p:spPr>
          <a:xfrm>
            <a:off x="7086600" y="1371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Feature Eng.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086600" y="182880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encoded Orbit,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LaunchSite, LandingPad, Serial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82296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1520" y="3611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Summary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931920"/>
          <a:ext cx="76809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48056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Falcon 9 Launches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 after One-Hot Encoding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 columns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/ Test Split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 / 20% (72 / 18 records)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Overall Landing Success 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EDA with Visualization Results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05840"/>
          <a:ext cx="41148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754880" y="1005840"/>
          <a:ext cx="39319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379476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31920"/>
            <a:ext cx="320040" cy="32004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05156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EDA Findings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640080" y="42519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rate has increased steadily from 0% (2010) to 93% (2020). KSC LC-39A has the highest success rate. Heavier payloads (LEO, ISS) still land successfully. Orbits ES-L1, GEO, HEO, SSO achieve 100% success.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EDA with SQL Results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Query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Launches from CCAFS SLC 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Landing success 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payload carried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F9 B5 boosters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successful ground pad landing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2015-12-22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Boosters: drone ship success, 4000-6000 kg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F9 FT B1021.2, F9 FT B1031.2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291840"/>
            <a:ext cx="8229600" cy="1645920"/>
          </a:xfrm>
          <a:prstGeom prst="rect">
            <a:avLst/>
          </a:prstGeom>
          <a:solidFill>
            <a:srgbClr val="0B1D3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3383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SQL Queries Used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31520" y="3749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SPACEXTBL LIMIT 20;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MIN("Date") FROM SPACEXTBL WHERE "Landing_Outcome"='Success (ground pad)';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"Landing_Outcome", COUNT(*) FROM SPACEXTBL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WHERE "Date" BETWEEN '2010-06-04' AND '2017-03-20' GROUP BY "Landing_Outcome" ORDER BY count DESC;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Interactive Map with Folium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9728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1097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Launch Site Geographical Analysis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1691640"/>
            <a:ext cx="8229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1691640"/>
            <a:ext cx="54864" cy="8229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7373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Launch Site Markers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0574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launch sites marked with coordinates and labels on an interactive Folium map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697480"/>
            <a:ext cx="8229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" y="2697480"/>
            <a:ext cx="54864" cy="8229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27432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Success/Failure Markers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" y="30632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Color-coded markers: green = successful landing, red = failed landing for each launch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03320"/>
            <a:ext cx="8229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" y="3703320"/>
            <a:ext cx="54864" cy="8229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3"/>
          <p:cNvSpPr/>
          <p:nvPr/>
        </p:nvSpPr>
        <p:spPr>
          <a:xfrm>
            <a:off x="731520" y="3749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Proximity Analysis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31520" y="40690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Calculated distances from launch sites to coastlines, cities, railways, and highways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4160520"/>
            <a:ext cx="8229600" cy="777240"/>
          </a:xfrm>
          <a:prstGeom prst="rect">
            <a:avLst/>
          </a:prstGeom>
          <a:solidFill>
            <a:srgbClr val="0B1D3A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251960"/>
            <a:ext cx="274320" cy="27432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051560" y="420624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All launch sites are located near the coast (for safety) and close to the equator (for orbital mechanics advantage). KSC LC-39A shows the densest cluster of successful landings.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Plotly Dash Dashboard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9728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1097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Interactive Dashboard Components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1691640"/>
            <a:ext cx="402336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1691640"/>
            <a:ext cx="402336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828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Dropdown Selector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21945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individual launch sites or view all sites combined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54880" y="1691640"/>
            <a:ext cx="402336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1691640"/>
            <a:ext cx="402336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Text 9"/>
          <p:cNvSpPr/>
          <p:nvPr/>
        </p:nvSpPr>
        <p:spPr>
          <a:xfrm>
            <a:off x="4937760" y="1828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Pie Chart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937760" y="21945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success vs. failure counts per site, or total success distribution across all sites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063240"/>
            <a:ext cx="402336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" y="3063240"/>
            <a:ext cx="402336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Payload Range Slider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" y="35661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launches by payload mass range (0–10,000 kg)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754880" y="3063240"/>
            <a:ext cx="402336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754880" y="3063240"/>
            <a:ext cx="402336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0" name="Text 17"/>
          <p:cNvSpPr/>
          <p:nvPr/>
        </p:nvSpPr>
        <p:spPr>
          <a:xfrm>
            <a:off x="493776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Scatter Chart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35661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mass vs. launch outcome, color-coded by booster version category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160520"/>
            <a:ext cx="8229600" cy="777240"/>
          </a:xfrm>
          <a:prstGeom prst="rect">
            <a:avLst/>
          </a:prstGeom>
          <a:solidFill>
            <a:srgbClr val="0B1D3A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251960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051560" y="420624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The dashboard reveals that payloads between 2,000–5,500 kg have the highest success rates. FT and B5 booster versions show improved landing performance over time.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Predictive Analysis Methodology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9728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1097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Machine Learning Pipeline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65760" y="1645920"/>
            <a:ext cx="1965960" cy="1188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17373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Standardize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65760" y="214884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on all features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331720" y="192024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891B2"/>
                </a:solidFill>
              </a:rPr>
              <a:t>▶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560320" y="1645920"/>
            <a:ext cx="1965960" cy="1188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Text 8"/>
          <p:cNvSpPr/>
          <p:nvPr/>
        </p:nvSpPr>
        <p:spPr>
          <a:xfrm>
            <a:off x="2560320" y="17373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Split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560320" y="214884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80/20 train-test (random_state=2)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26280" y="192024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891B2"/>
                </a:solidFill>
              </a:rPr>
              <a:t>▶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754880" y="1645920"/>
            <a:ext cx="1965960" cy="1188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2"/>
          <p:cNvSpPr/>
          <p:nvPr/>
        </p:nvSpPr>
        <p:spPr>
          <a:xfrm>
            <a:off x="4754880" y="17373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GridSearchCV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754880" y="214884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10-fold cross-validation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20840" y="192024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891B2"/>
                </a:solidFill>
              </a:rPr>
              <a:t>▶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949440" y="1645920"/>
            <a:ext cx="1965960" cy="1188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9" name="Text 16"/>
          <p:cNvSpPr/>
          <p:nvPr/>
        </p:nvSpPr>
        <p:spPr>
          <a:xfrm>
            <a:off x="6949440" y="17373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Evaluate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949440" y="214884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 + confusion matrix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657600"/>
                <a:gridCol w="22860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Parameters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Acc.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C=1, penalty=l2, solver=lbfgs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kernel=linear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~84.8%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criterion=gini, max_depth=6, min_leaf=4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n_neighbors=3, p=1, algorithm=auto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Predictive Analysis Results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05840"/>
          <a:ext cx="50292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669280" y="1005840"/>
            <a:ext cx="320040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143000"/>
            <a:ext cx="320040" cy="3200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263640" y="11430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Best Performers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5852160" y="1600200"/>
            <a:ext cx="28346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&amp; SVM tied at 83.3%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Accuracy: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 leads at 88.9%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— simplest model with top test accuracy and strong generalization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457200" y="3977640"/>
            <a:ext cx="82296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731520" y="4023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 Matrix Insight (Logistic Regression)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correctly classified 15 out of 18 test samples. Most errors occur in false negatives — predicting failure when the landing actually succeeded. This conservative behavior is acceptable for cost estimation purposes.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 success is predictable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51560" y="13716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models achieve up to 83.3% accuracy using launch parameters alone, proving that first-stage recovery can be modeled effectively.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18288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1828800"/>
            <a:ext cx="54864" cy="6400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6596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51560" y="1874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rate is improving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51560" y="21488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0% in 2010 to 93% in 2020 — SpaceX has dramatically improved its landing technology over time.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6060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" y="2606040"/>
            <a:ext cx="54864" cy="6400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51560" y="26517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Launch site matters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051560" y="29260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KSC LC-39A has the highest success rate. All sites are strategically located near coastlines for safety.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57200" y="338328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57200" y="3383280"/>
            <a:ext cx="54864" cy="6400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2044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51560" y="3429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Payload and orbit influence outcome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1051560" y="37033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Heavier payloads in LEO/ISS orbits still achieve high success. GTO missions have lower landing rates due to higher energy requirements.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57200" y="416052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7200" y="4160520"/>
            <a:ext cx="54864" cy="6400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97680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51560" y="4206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Logistic Regression is recommended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051560" y="44805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Simplest model with best test performance (83.3%). Decision Tree overfits despite high validation accuracy.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Innovative Insights &amp; Recommendations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9728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1097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Beyond the Numbers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1691640"/>
            <a:ext cx="40233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1691640"/>
            <a:ext cx="54864" cy="1280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7830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Booster Reuse Economics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21488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B5 boosters with 5+ flights maintain high success rates, suggesting diminishing cost per flight. Space Y should prioritize reusability R&amp;D.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54880" y="1691640"/>
            <a:ext cx="40233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1691640"/>
            <a:ext cx="54864" cy="1280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4983480" y="17830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Weather &amp; Seasonality Gap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983480" y="21488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models don't include weather data. Adding wind speed, visibility, and sea state could improve predictions significantly.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200400"/>
            <a:ext cx="40233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" y="3200400"/>
            <a:ext cx="54864" cy="1280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" y="3291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Ensemble Approach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85800" y="36576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Logistic Regression (stability) with Decision Tree (pattern detection) via a voting classifier could push accuracy beyond 85%.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754880" y="3200400"/>
            <a:ext cx="40233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754880" y="3200400"/>
            <a:ext cx="54864" cy="1280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7"/>
          <p:cNvSpPr/>
          <p:nvPr/>
        </p:nvSpPr>
        <p:spPr>
          <a:xfrm>
            <a:off x="4983480" y="3291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Real-time Prediction System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83480" y="36576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model as a REST API to provide real-time landing probability estimates during launch planning and cost bidding.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3840480" y="2011680"/>
            <a:ext cx="1463040" cy="45720"/>
          </a:xfrm>
          <a:prstGeom prst="rect">
            <a:avLst/>
          </a:prstGeom>
          <a:solidFill>
            <a:srgbClr val="22D3E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080" y="25603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38328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Repository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37160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https://github.com/YOUR-USERNAME/spacex-capstone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Data Science Professional Certificate — Capstone Project — April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SpaceX Falcon 9 First Stage Landing Prediction</dc:title>
  <dc:subject>PptxGenJS Presentation</dc:subject>
  <dc:creator>SpaceX Capstone</dc:creator>
  <cp:lastModifiedBy>SpaceX Capstone</cp:lastModifiedBy>
  <cp:revision>1</cp:revision>
  <dcterms:created xsi:type="dcterms:W3CDTF">2026-04-01T17:29:24Z</dcterms:created>
  <dcterms:modified xsi:type="dcterms:W3CDTF">2026-04-01T17:29:24Z</dcterms:modified>
</cp:coreProperties>
</file>